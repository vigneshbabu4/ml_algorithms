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76" r:id="rId10"/>
    <p:sldId id="263" r:id="rId11"/>
    <p:sldId id="277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9" r:id="rId20"/>
    <p:sldId id="271" r:id="rId21"/>
    <p:sldId id="272" r:id="rId22"/>
    <p:sldId id="273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F5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5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211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FA217-6C6F-D7F1-9846-3E5D5B35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5E4FC-68DE-1684-0E9E-2928513E1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C0D1A-99FD-0CB4-41ED-2DEC17A8F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2A0A2-27D6-BAEE-61DA-6F64EA688D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66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8B7D-35EE-BDC3-24FA-AA9773F8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131C2-415E-3634-363D-9413F8661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6AD30-A15F-22D5-0190-D0E319E5C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04DB1-9375-B6A8-494D-C59897EFB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15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CC52-32D1-22DD-8C7A-04E5399C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A1883-D817-8239-641A-5BBE269F6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177EB-F45D-1A21-AFC3-0B5F28F94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B0D44-EB5D-96A9-7C32-79DE1FFD76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42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DE9A6-AE91-9B47-8705-6FE329E5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59954-D4E2-373E-3827-548FC9758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C112A-2994-E142-51C8-8C338F7E7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A1768-A883-6F56-6836-6BF98072EE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34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8"/>
            <a:ext cx="12188952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</p:sp>
      <p:sp>
        <p:nvSpPr>
          <p:cNvPr id="4" name="Shape 2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3322320" cy="594360"/>
          </a:xfrm>
          <a:prstGeom prst="roundRect">
            <a:avLst>
              <a:gd name="adj" fmla="val 19048"/>
            </a:avLst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640079" y="1234440"/>
            <a:ext cx="31468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SUPERVISED LEARNING PROJECT</a:t>
            </a:r>
            <a:endParaRPr lang="en-US" sz="1600" dirty="0">
              <a:latin typeface="Bahnschrift SemiBold SemiConden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Customer Churn Prediction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Messy Real-World Dataset — End-to-End Business Use Case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76840" y="339021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07511"/>
            <a:ext cx="9875520" cy="4604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goal:  </a:t>
            </a: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 whether a subscription customer will churn (Yes/No) and provide evidence the model is reliable on unseen data.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3149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Junior Data Scientist   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Target: Churn   |   Records: 184 raw customers</a:t>
            </a:r>
            <a:endParaRPr lang="en-US" sz="12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B60C330-FAF6-A7B1-EB03-79639BEE8E3E}"/>
              </a:ext>
            </a:extLst>
          </p:cNvPr>
          <p:cNvSpPr/>
          <p:nvPr/>
        </p:nvSpPr>
        <p:spPr>
          <a:xfrm>
            <a:off x="7424189" y="52806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PROJECT</a:t>
            </a:r>
            <a:endParaRPr lang="en-US" sz="12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BA6CE51F-B804-0703-DFE5-14703BB49DA0}"/>
              </a:ext>
            </a:extLst>
          </p:cNvPr>
          <p:cNvSpPr/>
          <p:nvPr/>
        </p:nvSpPr>
        <p:spPr>
          <a:xfrm>
            <a:off x="8957425" y="5052059"/>
            <a:ext cx="2092960" cy="822961"/>
          </a:xfrm>
          <a:prstGeom prst="roundRect">
            <a:avLst>
              <a:gd name="adj" fmla="val 19048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r>
              <a:rPr lang="en-US" dirty="0">
                <a:latin typeface="Bahnschrift SemiBold SemiConden" panose="020B0502040204020203" pitchFamily="34" charset="0"/>
              </a:rPr>
              <a:t>    Presented by </a:t>
            </a:r>
          </a:p>
          <a:p>
            <a:r>
              <a:rPr lang="en-US" dirty="0">
                <a:latin typeface="Bahnschrift SemiBold SemiConden" panose="020B0502040204020203" pitchFamily="34" charset="0"/>
              </a:rPr>
              <a:t>  G.VIGNESHBABU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127AB53-1D13-1012-8CD2-39BD431C12F0}"/>
              </a:ext>
            </a:extLst>
          </p:cNvPr>
          <p:cNvSpPr/>
          <p:nvPr/>
        </p:nvSpPr>
        <p:spPr>
          <a:xfrm>
            <a:off x="9517149" y="-919248"/>
            <a:ext cx="3657600" cy="3657600"/>
          </a:xfrm>
          <a:prstGeom prst="ellipse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770632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770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Business Context &amp; Objective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577840" cy="4480560"/>
          </a:xfrm>
          <a:prstGeom prst="roundRect">
            <a:avLst>
              <a:gd name="adj" fmla="val 1633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subscription-based company is experiencing customer churn.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wants to identify customers who are likely to leave so the retention team can intervene before they churn.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raw customer dataset was provided with demographic, usage, billing, service, and satisfaction information.</a:t>
            </a:r>
            <a:endParaRPr lang="en-US" sz="1350" dirty="0"/>
          </a:p>
          <a:p>
            <a:pPr marL="228600" indent="-228600" algn="l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intentionally contains common real-world data-quality issues (missing values, duplicates, inconsistent labels, invalid values).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68112" cy="4507992"/>
          </a:xfrm>
          <a:prstGeom prst="roundRect">
            <a:avLst>
              <a:gd name="adj" fmla="val 1633"/>
            </a:avLst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supervised machine learning solution that predicts whether a customer is likely to churn, and provide evidence that the model is reliable on unseen data.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37960" y="3840480"/>
            <a:ext cx="46634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537960" y="40233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problem — target Churn is categorical (Yes/No).</a:t>
            </a:r>
            <a:endParaRPr lang="en-US" sz="1250" dirty="0"/>
          </a:p>
          <a:p>
            <a:pPr marL="228600" indent="-228600" algn="l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models rather than choosing on training score alone.</a:t>
            </a:r>
            <a:endParaRPr lang="en-US" sz="1250" dirty="0"/>
          </a:p>
          <a:p>
            <a:pPr marL="228600" indent="-228600" algn="l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rely on accuracy alone; interpret precision, recall and F1 for the business need.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50008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50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Dataset Overview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764792"/>
            <a:ext cx="158191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232029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customer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0" y="169164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764792"/>
            <a:ext cx="158191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340864" y="232029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(features + target)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169164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9664" y="1764792"/>
            <a:ext cx="158191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2">
                    <a:lumMod val="1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2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69664" y="232029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169164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1764792"/>
            <a:ext cx="158191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98464" y="232029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column: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(Yes/No)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0" y="169164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27264" y="1764792"/>
            <a:ext cx="158191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/ </a:t>
            </a:r>
            <a:r>
              <a:rPr lang="en-US" sz="2600" b="1" dirty="0">
                <a:solidFill>
                  <a:srgbClr val="2BF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2600" dirty="0">
              <a:solidFill>
                <a:srgbClr val="2BF53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827264" y="232029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class split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0" y="169164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6064" y="1764792"/>
            <a:ext cx="203911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Classification</a:t>
            </a:r>
            <a:endParaRPr lang="en-US" sz="15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56064" y="232029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Column groups identified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130238"/>
              </p:ext>
            </p:extLst>
          </p:nvPr>
        </p:nvGraphicFramePr>
        <p:xfrm>
          <a:off x="457200" y="3520440"/>
          <a:ext cx="1124712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Columns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Identifier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Customer_ID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Numerical (7)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Age, Annual_Income, Tenure_Months, Monthly_Charges,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Support_Calls_Last_3M, Data_Usage_GB, Satisfaction_Score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Categorical (4)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Contract_Type, Payment_Method, Region, Plan_Type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Target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Churn (Yes / No)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58064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Initial inspection: df.info() showed missing values in every numeric column and Annual_Income stored as text (object dtype) rather than numeric — the first sign of data-quality issues.</a:t>
            </a:r>
            <a:endParaRPr lang="en-US" sz="11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50008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50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Data-Quality</a:t>
            </a: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Issues Identified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Missing values by column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971451"/>
              </p:ext>
            </p:extLst>
          </p:nvPr>
        </p:nvGraphicFramePr>
        <p:xfrm>
          <a:off x="457200" y="1965959"/>
          <a:ext cx="4480560" cy="2301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Missing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Annual_Income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Tenure_Months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Monthly_Charges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Support_Calls_Last_3M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Data_Usage_GB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Satisfaction_Score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E3B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120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15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missing values: 49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2578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Other issues found in raw data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257800" y="1965960"/>
            <a:ext cx="6492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900"/>
              </a:spcAft>
              <a:buSzPct val="100000"/>
              <a:buChar char="▪"/>
            </a:pPr>
            <a:r>
              <a:rPr lang="en-US" sz="2000" b="1" dirty="0">
                <a:solidFill>
                  <a:srgbClr val="2B2E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Exact duplicate rows: </a:t>
            </a:r>
            <a:r>
              <a:rPr lang="en-US" dirty="0">
                <a:solidFill>
                  <a:srgbClr val="2B2E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(Customer_ID repeated, e.g. CUST-1008, CUST-1043, CUST-1110, CUST-1152).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2B2E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Annual_Income loaded as text (object) instead of numeric — required conversion.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2B2E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Placeholder values ("?") in Contract_Type, Payment_Method and Region.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900"/>
              </a:spcAft>
              <a:buSzPct val="100000"/>
              <a:buChar char="▪"/>
            </a:pPr>
            <a:r>
              <a:rPr lang="en-US" sz="2000" b="1" dirty="0">
                <a:solidFill>
                  <a:srgbClr val="2B2E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Inconsistent categorical </a:t>
            </a:r>
            <a:r>
              <a:rPr lang="en-US" dirty="0">
                <a:solidFill>
                  <a:srgbClr val="2B2E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text: e.g. "MONTHLY" / "monthly" / "Monthly", "bank transfer" / "Bank Transfer", "NORTH" / "north".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900"/>
              </a:spcAft>
              <a:buSzPct val="100000"/>
              <a:buChar char="▪"/>
            </a:pPr>
            <a:r>
              <a:rPr lang="en-US" sz="2000" b="1" dirty="0">
                <a:solidFill>
                  <a:srgbClr val="2B2E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Impossible values: </a:t>
            </a:r>
            <a:r>
              <a:rPr lang="en-US" dirty="0">
                <a:solidFill>
                  <a:srgbClr val="2B2E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negative Age (-5), Age of 145, negative Annual_Income (-11,500 / -12,000), negative Data_Usage_GB (7 rows), Monthly_Charges up to 999.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900"/>
              </a:spcAft>
              <a:buSzPct val="100000"/>
              <a:buChar char="▪"/>
            </a:pPr>
            <a:r>
              <a:rPr lang="en-US" b="1" dirty="0">
                <a:solidFill>
                  <a:srgbClr val="2B2E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IQR outlier scan</a:t>
            </a:r>
            <a:r>
              <a:rPr lang="en-US" dirty="0">
                <a:solidFill>
                  <a:srgbClr val="2B2E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~16 outlier values across numeric columns (1.24% of all numeric values).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— </a:t>
            </a: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Decisions</a:t>
            </a: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Annual_Income from text to numeric using pd.to_numeric(errors='coerce').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733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16002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categories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whitespace and normalized case for Contract_Type, Payment_Method and Region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67149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6714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1327" y="3741398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Handle placeholders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"?" entries with NaN, then imputed with each column's mode.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2843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5184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BD7C2D6-60F6-B6CB-56D5-19A755613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497" y="2481990"/>
            <a:ext cx="1923392" cy="153561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B35C915-41B7-03EF-F98E-EED96FB0B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684" y="2772338"/>
            <a:ext cx="2465041" cy="109557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6" name="Arrow: Right 35">
            <a:extLst>
              <a:ext uri="{FF2B5EF4-FFF2-40B4-BE49-F238E27FC236}">
                <a16:creationId xmlns:a16="http://schemas.microsoft.com/office/drawing/2014/main" id="{71E0A9D9-99EF-AA14-83EB-89096E76B649}"/>
              </a:ext>
            </a:extLst>
          </p:cNvPr>
          <p:cNvSpPr/>
          <p:nvPr/>
        </p:nvSpPr>
        <p:spPr>
          <a:xfrm>
            <a:off x="8815462" y="3223260"/>
            <a:ext cx="409220" cy="35204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C3CA942-78B2-70C4-D896-1AEDB7D44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092" y="4630812"/>
            <a:ext cx="1600339" cy="188230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9" name="Arrow: Right 38">
            <a:extLst>
              <a:ext uri="{FF2B5EF4-FFF2-40B4-BE49-F238E27FC236}">
                <a16:creationId xmlns:a16="http://schemas.microsoft.com/office/drawing/2014/main" id="{1603079D-D253-1765-2CB0-6C5B857C1542}"/>
              </a:ext>
            </a:extLst>
          </p:cNvPr>
          <p:cNvSpPr/>
          <p:nvPr/>
        </p:nvSpPr>
        <p:spPr>
          <a:xfrm>
            <a:off x="3077427" y="5499874"/>
            <a:ext cx="573741" cy="35204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C1FC2C0-DC04-3C50-2B08-E822636EE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9429" y="4985238"/>
            <a:ext cx="1539373" cy="13107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AE0C683-AE86-1D48-A568-FBA11E41CA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45" y="3090851"/>
            <a:ext cx="3229592" cy="170614"/>
          </a:xfrm>
          <a:prstGeom prst="rect">
            <a:avLst/>
          </a:prstGeom>
        </p:spPr>
      </p:pic>
      <p:sp>
        <p:nvSpPr>
          <p:cNvPr id="44" name="Arrow: Right 43">
            <a:extLst>
              <a:ext uri="{FF2B5EF4-FFF2-40B4-BE49-F238E27FC236}">
                <a16:creationId xmlns:a16="http://schemas.microsoft.com/office/drawing/2014/main" id="{9FECA189-7D18-1311-3854-51BF86EFFC72}"/>
              </a:ext>
            </a:extLst>
          </p:cNvPr>
          <p:cNvSpPr/>
          <p:nvPr/>
        </p:nvSpPr>
        <p:spPr>
          <a:xfrm>
            <a:off x="3986125" y="3092892"/>
            <a:ext cx="259061" cy="16857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624F8D1-AE13-859B-198F-CEDF579420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8440" y="2843784"/>
            <a:ext cx="1665905" cy="64982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53A881-FC02-BD38-8646-9DD176DFF9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5088117"/>
            <a:ext cx="1531753" cy="110499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8BC92895-B1B9-1F4C-11C9-5E24915CE653}"/>
              </a:ext>
            </a:extLst>
          </p:cNvPr>
          <p:cNvSpPr/>
          <p:nvPr/>
        </p:nvSpPr>
        <p:spPr>
          <a:xfrm>
            <a:off x="5651607" y="5464593"/>
            <a:ext cx="573741" cy="35204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26686-F8FF-3BA1-BEF7-C88EACD0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8F711A-C012-2C3B-EC66-DFC8DB1D93C8}"/>
              </a:ext>
            </a:extLst>
          </p:cNvPr>
          <p:cNvSpPr/>
          <p:nvPr/>
        </p:nvSpPr>
        <p:spPr>
          <a:xfrm>
            <a:off x="6097795" y="3639672"/>
            <a:ext cx="4875005" cy="22177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FC19E54-2BCD-D4AA-74CA-066FD429D14F}"/>
              </a:ext>
            </a:extLst>
          </p:cNvPr>
          <p:cNvSpPr/>
          <p:nvPr/>
        </p:nvSpPr>
        <p:spPr>
          <a:xfrm>
            <a:off x="457200" y="36576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98A1CE-A1FF-2B3A-6252-BEE9482FD1CE}"/>
              </a:ext>
            </a:extLst>
          </p:cNvPr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3E60F2-457B-43D1-DA02-20E561D29556}"/>
              </a:ext>
            </a:extLst>
          </p:cNvPr>
          <p:cNvSpPr/>
          <p:nvPr/>
        </p:nvSpPr>
        <p:spPr>
          <a:xfrm>
            <a:off x="411480" y="790956"/>
            <a:ext cx="11247120" cy="5465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 Cleaning — Decisions Made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6B9D63-8DB2-B7B1-4F6D-48E80D18DB9D}"/>
              </a:ext>
            </a:extLst>
          </p:cNvPr>
          <p:cNvSpPr/>
          <p:nvPr/>
        </p:nvSpPr>
        <p:spPr>
          <a:xfrm>
            <a:off x="45720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6FC17B-6D43-3B44-7A7C-ADD6E24DFAE7}"/>
              </a:ext>
            </a:extLst>
          </p:cNvPr>
          <p:cNvSpPr/>
          <p:nvPr/>
        </p:nvSpPr>
        <p:spPr>
          <a:xfrm>
            <a:off x="6181165" y="168231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A146B27-D4BC-8498-EF66-61A8CC3FCAA3}"/>
              </a:ext>
            </a:extLst>
          </p:cNvPr>
          <p:cNvSpPr/>
          <p:nvPr/>
        </p:nvSpPr>
        <p:spPr>
          <a:xfrm>
            <a:off x="497544" y="160665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3576380-02AB-E5EE-A0A4-4B2E9F2E3B9C}"/>
              </a:ext>
            </a:extLst>
          </p:cNvPr>
          <p:cNvSpPr/>
          <p:nvPr/>
        </p:nvSpPr>
        <p:spPr>
          <a:xfrm>
            <a:off x="497544" y="160665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F4DE834-99CD-0A0B-6C8B-6E850BF30800}"/>
              </a:ext>
            </a:extLst>
          </p:cNvPr>
          <p:cNvSpPr/>
          <p:nvPr/>
        </p:nvSpPr>
        <p:spPr>
          <a:xfrm>
            <a:off x="1091904" y="1533498"/>
            <a:ext cx="4831977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Fix impossible values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negative Age, negative Data_Usage_GB, negative Annual_Income, and unrealistic </a:t>
            </a:r>
            <a:r>
              <a:rPr lang="en-US" sz="1400" b="1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values (10, 16, 17, 145) 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NaN.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F0FD3E5-02F3-B7B5-4E21-E1ABF2DB63F9}"/>
              </a:ext>
            </a:extLst>
          </p:cNvPr>
          <p:cNvSpPr/>
          <p:nvPr/>
        </p:nvSpPr>
        <p:spPr>
          <a:xfrm>
            <a:off x="6140827" y="1611674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A9ED9F4-192D-69C8-3B6A-487DB057FCE2}"/>
              </a:ext>
            </a:extLst>
          </p:cNvPr>
          <p:cNvSpPr/>
          <p:nvPr/>
        </p:nvSpPr>
        <p:spPr>
          <a:xfrm>
            <a:off x="6140827" y="161167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5AFB51C-3541-8786-B562-ADABA8E90F30}"/>
              </a:ext>
            </a:extLst>
          </p:cNvPr>
          <p:cNvSpPr/>
          <p:nvPr/>
        </p:nvSpPr>
        <p:spPr>
          <a:xfrm>
            <a:off x="6726222" y="1529557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 filled with column median; categorical columns filled with mode 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rows deleted for missingness.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A0991CF-F5C3-90D9-B766-10E9260ECBC7}"/>
              </a:ext>
            </a:extLst>
          </p:cNvPr>
          <p:cNvSpPr/>
          <p:nvPr/>
        </p:nvSpPr>
        <p:spPr>
          <a:xfrm>
            <a:off x="6172200" y="2938449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0DEEB4C-25CD-F894-3DBF-989AFC01F537}"/>
              </a:ext>
            </a:extLst>
          </p:cNvPr>
          <p:cNvSpPr/>
          <p:nvPr/>
        </p:nvSpPr>
        <p:spPr>
          <a:xfrm>
            <a:off x="6172200" y="29294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D3D474F-67AF-7CFE-963B-5A7026D66941}"/>
              </a:ext>
            </a:extLst>
          </p:cNvPr>
          <p:cNvSpPr/>
          <p:nvPr/>
        </p:nvSpPr>
        <p:spPr>
          <a:xfrm>
            <a:off x="6748630" y="2878386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4 exact duplicate rows: 184 → 180 rows, 0 duplicates remaining.</a:t>
            </a:r>
            <a:endParaRPr lang="en-US" sz="14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F0CD7D9-CE98-2C84-FE62-6CAFD47E93AD}"/>
              </a:ext>
            </a:extLst>
          </p:cNvPr>
          <p:cNvSpPr/>
          <p:nvPr/>
        </p:nvSpPr>
        <p:spPr>
          <a:xfrm>
            <a:off x="457200" y="2898644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AD940D7-E5BA-2D52-7D8B-83FD69F1391C}"/>
              </a:ext>
            </a:extLst>
          </p:cNvPr>
          <p:cNvSpPr/>
          <p:nvPr/>
        </p:nvSpPr>
        <p:spPr>
          <a:xfrm>
            <a:off x="457200" y="28986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97F8C2E-33CD-6B47-99F9-28F05340093F}"/>
              </a:ext>
            </a:extLst>
          </p:cNvPr>
          <p:cNvSpPr/>
          <p:nvPr/>
        </p:nvSpPr>
        <p:spPr>
          <a:xfrm>
            <a:off x="1051560" y="2878386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Review outliers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scan retained after review (not deleted), per the rule not to delete unusual records without investigation.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8C04C94-8AA1-527B-9D47-EB32A6042D2D}"/>
              </a:ext>
            </a:extLst>
          </p:cNvPr>
          <p:cNvSpPr/>
          <p:nvPr/>
        </p:nvSpPr>
        <p:spPr>
          <a:xfrm>
            <a:off x="457200" y="6053328"/>
            <a:ext cx="11247120" cy="502920"/>
          </a:xfrm>
          <a:prstGeom prst="roundRect">
            <a:avLst>
              <a:gd name="adj" fmla="val 10909"/>
            </a:avLst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0FFFC66-6BF8-20B0-1414-CA9FD6055A21}"/>
              </a:ext>
            </a:extLst>
          </p:cNvPr>
          <p:cNvSpPr/>
          <p:nvPr/>
        </p:nvSpPr>
        <p:spPr>
          <a:xfrm>
            <a:off x="640080" y="60533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Result: cleaned_customer.csv — 180 rows × 13 columns, 0 missing values, 0 duplicates.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81CB703-15AB-39DE-0A57-D0B12C6C2BDA}"/>
              </a:ext>
            </a:extLst>
          </p:cNvPr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37D89A-26B0-29D5-7B34-CBD4F3CED2A8}"/>
              </a:ext>
            </a:extLst>
          </p:cNvPr>
          <p:cNvSpPr txBox="1"/>
          <p:nvPr/>
        </p:nvSpPr>
        <p:spPr>
          <a:xfrm>
            <a:off x="630222" y="3781225"/>
            <a:ext cx="54657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Annual Income 9,999,999 → 1 record </a:t>
            </a:r>
            <a:r>
              <a:rPr lang="en-US" sz="1400" dirty="0"/>
              <a:t>(CUST-1026)This is a major outlier compared with the rest of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Tenure150 months → 1 record </a:t>
            </a:r>
            <a:r>
              <a:rPr lang="en-US" sz="1400" dirty="0"/>
              <a:t>(CUST-1013)If your dataset is intended to cover a maximum of 72 months, this is invalid.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Monthly Charges 0.00 → 1 record </a:t>
            </a:r>
            <a:r>
              <a:rPr lang="en-US" sz="1400" dirty="0"/>
              <a:t>(CUST-1045)999.00 → 1 record (CUST-1089)These need validation against the intended pricing range.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D2C3F1C-F0E9-B5D4-BDB7-0A7308032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9" y="3840564"/>
            <a:ext cx="1092857" cy="17927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401FC924-3C7B-2A43-1457-93DF4F46531D}"/>
              </a:ext>
            </a:extLst>
          </p:cNvPr>
          <p:cNvSpPr/>
          <p:nvPr/>
        </p:nvSpPr>
        <p:spPr>
          <a:xfrm>
            <a:off x="6322810" y="4115868"/>
            <a:ext cx="1604682" cy="632655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outliers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88E8AA6-DC73-4EDA-7B5C-45661C7114FF}"/>
              </a:ext>
            </a:extLst>
          </p:cNvPr>
          <p:cNvSpPr/>
          <p:nvPr/>
        </p:nvSpPr>
        <p:spPr>
          <a:xfrm>
            <a:off x="6297710" y="5035141"/>
            <a:ext cx="2788024" cy="632655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Outlier percentage                                   1.24%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363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086100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0861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>
                <a:solidFill>
                  <a:srgbClr val="141A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Among</a:t>
            </a: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Numeric </a:t>
            </a:r>
            <a:r>
              <a:rPr lang="en-US" sz="3000" b="1" dirty="0">
                <a:solidFill>
                  <a:srgbClr val="141A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Features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imgs/cell4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" y="1554479"/>
            <a:ext cx="6384664" cy="51754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the heatmap shows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0" y="2103120"/>
            <a:ext cx="4846320" cy="22447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pairwise correlations among the 7 numeric features are weak (|r| ≤ 0.13).</a:t>
            </a:r>
            <a:endParaRPr lang="en-US" dirty="0"/>
          </a:p>
          <a:p>
            <a:pPr marL="228600" indent="-228600" algn="l"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pair: Annual_Income vs Tenure_Months at r = -0.13 — still negligible.</a:t>
            </a:r>
            <a:endParaRPr lang="en-US" dirty="0"/>
          </a:p>
          <a:p>
            <a:pPr marL="228600" indent="-228600" algn="l"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 of multicollinearity, so no numeric features needed to be dropped before modeling.</a:t>
            </a:r>
            <a:endParaRPr lang="en-US" dirty="0"/>
          </a:p>
          <a:p>
            <a:pPr marL="228600" indent="-228600" algn="l"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also signals that churn is unlikely to be explained by any single numeric variable in isolation.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086100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0861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Does Churn Differ by Contract Type?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imgs/cell9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1554480"/>
            <a:ext cx="665988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560755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Churn rate within each contract (%)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728583"/>
              </p:ext>
            </p:extLst>
          </p:nvPr>
        </p:nvGraphicFramePr>
        <p:xfrm>
          <a:off x="6949440" y="2011680"/>
          <a:ext cx="4754880" cy="1097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Contract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 Churn 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Churn 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Monthly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37.5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E3B"/>
                          </a:solidFill>
                        </a:rPr>
                        <a:t>62.5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1 Year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53.8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46.2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2 Year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79.2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20.8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73240" y="3614749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</p:sp>
      <p:sp>
        <p:nvSpPr>
          <p:cNvPr id="9" name="Text 5"/>
          <p:cNvSpPr/>
          <p:nvPr/>
        </p:nvSpPr>
        <p:spPr>
          <a:xfrm>
            <a:off x="7101840" y="3889069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meaning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Monthly-contract customers churn far more often (62.5%) than 2-year customers (20.8%). Contract length is one of the clearest churn signals in the data.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BB8FFA-4B5D-F3E6-67F4-3A2436D58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F5E1DB-4677-BCBE-27DC-7B33E977A68A}"/>
              </a:ext>
            </a:extLst>
          </p:cNvPr>
          <p:cNvSpPr/>
          <p:nvPr/>
        </p:nvSpPr>
        <p:spPr>
          <a:xfrm>
            <a:off x="457200" y="365760"/>
            <a:ext cx="3086100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F2249E-5DB9-3901-3623-01CCC50C57E7}"/>
              </a:ext>
            </a:extLst>
          </p:cNvPr>
          <p:cNvSpPr/>
          <p:nvPr/>
        </p:nvSpPr>
        <p:spPr>
          <a:xfrm>
            <a:off x="457200" y="365760"/>
            <a:ext cx="30861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A3410F-44FD-8F6F-5E86-17D53D012AC3}"/>
              </a:ext>
            </a:extLst>
          </p:cNvPr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Churn by  Plan Type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FBA57A1-BEDD-9CD7-6B55-006DA5FFDAED}"/>
              </a:ext>
            </a:extLst>
          </p:cNvPr>
          <p:cNvSpPr/>
          <p:nvPr/>
        </p:nvSpPr>
        <p:spPr>
          <a:xfrm>
            <a:off x="9018494" y="1560754"/>
            <a:ext cx="2685826" cy="2625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2FD4815-4C57-8CE3-8418-DB22EBE9C47D}"/>
              </a:ext>
            </a:extLst>
          </p:cNvPr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E626C3-8F0E-9B8A-0D8E-7F8AF36A5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13" y="1285987"/>
            <a:ext cx="6189325" cy="4487284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EEFA7750-9548-8FCC-3255-A5E9A4FE4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385" y="1443841"/>
            <a:ext cx="563232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Standard Plan:</a:t>
            </a:r>
            <a:r>
              <a:rPr lang="en-US" altLang="en-US" dirty="0">
                <a:latin typeface="Arial" panose="020B0604020202020204" pitchFamily="34" charset="0"/>
              </a:rPr>
              <a:t> 44 customers churned, while 50 did not churn.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Basic Plan:</a:t>
            </a:r>
            <a:r>
              <a:rPr lang="en-US" altLang="en-US" dirty="0">
                <a:latin typeface="Arial" panose="020B0604020202020204" pitchFamily="34" charset="0"/>
              </a:rPr>
              <a:t> 32 customers churned compared with only 15 non-churned customers.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Premium Plan:</a:t>
            </a:r>
            <a:r>
              <a:rPr lang="en-US" altLang="en-US" dirty="0">
                <a:latin typeface="Arial" panose="020B0604020202020204" pitchFamily="34" charset="0"/>
              </a:rPr>
              <a:t> 18 customers churned and 21 did not churn.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</a:t>
            </a:r>
            <a:r>
              <a:rPr lang="en-US" altLang="en-US" b="1" dirty="0">
                <a:latin typeface="Arial" panose="020B0604020202020204" pitchFamily="34" charset="0"/>
              </a:rPr>
              <a:t>Basic Plan shows the highest churn proportion</a:t>
            </a:r>
            <a:r>
              <a:rPr lang="en-US" altLang="en-US" dirty="0">
                <a:latin typeface="Arial" panose="020B0604020202020204" pitchFamily="34" charset="0"/>
              </a:rPr>
              <a:t> among the three plan types.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Standard Plan has the </a:t>
            </a:r>
            <a:r>
              <a:rPr lang="en-US" altLang="en-US" b="1" dirty="0">
                <a:latin typeface="Arial" panose="020B0604020202020204" pitchFamily="34" charset="0"/>
              </a:rPr>
              <a:t>largest number of customers overall</a:t>
            </a:r>
            <a:r>
              <a:rPr lang="en-US" altLang="en-US" dirty="0">
                <a:latin typeface="Arial" panose="020B0604020202020204" pitchFamily="34" charset="0"/>
              </a:rPr>
              <a:t> in the dataset. </a:t>
            </a:r>
          </a:p>
        </p:txBody>
      </p:sp>
    </p:spTree>
    <p:extLst>
      <p:ext uri="{BB962C8B-B14F-4D97-AF65-F5344CB8AC3E}">
        <p14:creationId xmlns:p14="http://schemas.microsoft.com/office/powerpoint/2010/main" val="177067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086100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0861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Satisfaction, Tenure &amp; Charges vs Churn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imgs/cell10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3840480" cy="3246120"/>
          </a:xfrm>
          <a:prstGeom prst="rect">
            <a:avLst/>
          </a:prstGeom>
        </p:spPr>
      </p:pic>
      <p:pic>
        <p:nvPicPr>
          <p:cNvPr id="6" name="Image 1" descr="/home/claude/imgs/cell10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00200"/>
            <a:ext cx="3840480" cy="3246120"/>
          </a:xfrm>
          <a:prstGeom prst="rect">
            <a:avLst/>
          </a:prstGeom>
        </p:spPr>
      </p:pic>
      <p:pic>
        <p:nvPicPr>
          <p:cNvPr id="7" name="Image 2" descr="/home/claude/imgs/cell106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600200"/>
            <a:ext cx="3840480" cy="32461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983480"/>
            <a:ext cx="11430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Score: churned customers show a visibly lower median satisfaction score than retained customers — the clearest of the three relationships.</a:t>
            </a:r>
            <a:endParaRPr lang="en-US" sz="1400" dirty="0"/>
          </a:p>
          <a:p>
            <a:pPr marL="228600" indent="-228600" algn="l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Tenure: median tenure is similar for churned and retained customers in this data — limited separation.</a:t>
            </a:r>
            <a:endParaRPr lang="en-US" sz="1400" dirty="0"/>
          </a:p>
          <a:p>
            <a:pPr marL="228600" indent="-228600" algn="l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Charges: distributions largely overlap between churned and retained customers, with a few high-charge outliers on both sides.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0B2FDF-3B77-E683-906A-0003E981ECC2}"/>
              </a:ext>
            </a:extLst>
          </p:cNvPr>
          <p:cNvSpPr txBox="1"/>
          <p:nvPr/>
        </p:nvSpPr>
        <p:spPr>
          <a:xfrm>
            <a:off x="950259" y="2658471"/>
            <a:ext cx="102914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WAS CLEANED </a:t>
            </a:r>
          </a:p>
        </p:txBody>
      </p:sp>
    </p:spTree>
    <p:extLst>
      <p:ext uri="{BB962C8B-B14F-4D97-AF65-F5344CB8AC3E}">
        <p14:creationId xmlns:p14="http://schemas.microsoft.com/office/powerpoint/2010/main" val="2668216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Preprocessing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1717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Preprocessing pipeline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593489"/>
            <a:ext cx="5669280" cy="24357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▪"/>
            </a:pPr>
            <a:r>
              <a:rPr lang="en-US" sz="1400" b="1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dropped 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is an identifier, not a predictive feature.</a:t>
            </a:r>
            <a:endParaRPr lang="en-US" sz="1400" dirty="0"/>
          </a:p>
          <a:p>
            <a:pPr marL="228600" indent="-228600" algn="l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Churn encoded: </a:t>
            </a:r>
            <a:r>
              <a:rPr lang="en-US" sz="1400" b="1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1, No → 0 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(94 vs 86 after cleaning).</a:t>
            </a:r>
            <a:endParaRPr lang="en-US" sz="1400" dirty="0"/>
          </a:p>
          <a:p>
            <a:pPr marL="228600" indent="-228600" algn="l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(7): </a:t>
            </a:r>
            <a:r>
              <a:rPr lang="en-US" sz="1400" b="1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+ scaling. Standard, MinMax and Robust scalers were all tested.</a:t>
            </a:r>
            <a:endParaRPr lang="en-US" sz="1400" b="1" dirty="0"/>
          </a:p>
          <a:p>
            <a:pPr marL="228600" indent="-228600" algn="l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 (4): </a:t>
            </a:r>
            <a:r>
              <a:rPr lang="en-US" sz="1400" b="1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most-frequent imputation + one-hot encoding (unknown categories ignored at inference).</a:t>
            </a:r>
            <a:endParaRPr lang="en-US" sz="1400" b="1" dirty="0"/>
          </a:p>
          <a:p>
            <a:pPr marL="228600" indent="-228600" algn="l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via a </a:t>
            </a:r>
            <a:r>
              <a:rPr lang="en-US" sz="1400" b="1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ColumnTransformer + Pipeline to prevent test-set leakage</a:t>
            </a:r>
            <a:r>
              <a:rPr lang="en-US" sz="14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5257800" cy="4846320"/>
          </a:xfrm>
          <a:prstGeom prst="roundRect">
            <a:avLst>
              <a:gd name="adj" fmla="val 1509"/>
            </a:avLst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Train / Test Split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766560" y="233172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1424" y="2404872"/>
            <a:ext cx="2267712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15554"/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mbria" pitchFamily="34" charset="-120"/>
              </a:rPr>
              <a:t>144</a:t>
            </a:r>
            <a:endParaRPr lang="en-US" sz="2600" dirty="0">
              <a:latin typeface="Arial Black" panose="020B0A04020102020204" pitchFamily="34" charset="0"/>
              <a:ea typeface="Segoe UI Black" panose="020B0A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21424" y="2935224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281160" y="23317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36024" y="2404872"/>
            <a:ext cx="2084832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15554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60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36024" y="2935224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0" y="37033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 / 20 split, stratified on Churn to preserve class balance.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random_state = 42 for reproducibility.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 shape (180, 11) → X_train (144, 11), X_test (36, 11).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 fitted on training data only, then applied to test data — avoids data leakage.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Supervised Learning Models Built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7647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141A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232257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classifier (max_iter = 1000)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20540" y="1572768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2880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7647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K-Nearest Neighbors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83480" y="22631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classifier, k = 5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82880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23960" y="17647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 Tree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26780" y="23042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 classifier (random_state = 42)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8328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tx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3192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51560" y="3794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ensemble of 100 trees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297680" y="32004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38328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33192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AdaBoost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63440" y="386343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ensemble, 100 estimators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138160" y="32004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38328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23960" y="33192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Gradient Boosting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686800" y="3818069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ensemble, 100 estimators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93776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43000" y="487375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CatBoost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" y="5440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on decision trees, 100 iterations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Evaluation Metrics — Initial Comparison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573825"/>
              </p:ext>
            </p:extLst>
          </p:nvPr>
        </p:nvGraphicFramePr>
        <p:xfrm>
          <a:off x="457200" y="1691640"/>
          <a:ext cx="11250706" cy="22555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52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Logistic Regression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0.583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0.625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0.571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KNN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0.500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Decision Tree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0.472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0.500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0.368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0.424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Random Forest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0.611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0.667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0.588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AdaBoost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0.556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0.600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0.474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0.529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Gradient Boosting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0.528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0.563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0.474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0.514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CatBoost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0.500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0.529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0.474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0.500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46320"/>
            <a:ext cx="11247120" cy="1034527"/>
          </a:xfrm>
          <a:prstGeom prst="roundRect">
            <a:avLst>
              <a:gd name="adj" fmla="val 4571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rely on accuracy alone?  </a:t>
            </a:r>
            <a:r>
              <a:rPr lang="en-US" sz="130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retention use case, missing an actual churner (false negative) is usually costlier than a false alarm (false positive). Recall and F1-score — not accuracy — best reflect the model's ability to catch customers who are about to churn.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Cross-Validation &amp; Overfitting Check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5-fold stratified CV accuracy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935728"/>
              </p:ext>
            </p:extLst>
          </p:nvPr>
        </p:nvGraphicFramePr>
        <p:xfrm>
          <a:off x="507402" y="1965960"/>
          <a:ext cx="5385995" cy="2133600"/>
        </p:xfrm>
        <a:graphic>
          <a:graphicData uri="http://schemas.openxmlformats.org/drawingml/2006/table">
            <a:tbl>
              <a:tblPr/>
              <a:tblGrid>
                <a:gridCol w="364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CV Score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B2E3B"/>
                          </a:solidFill>
                        </a:rPr>
                        <a:t>AdaBoost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B2E3B"/>
                          </a:solidFill>
                        </a:rPr>
                        <a:t>0.611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Logistic Regression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0.590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Random Forest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0.576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CatBoost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0.555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Decision Tree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0.535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KNN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0.534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Gradient Boosting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0.465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72200" y="16002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Train vs Test accuracy (overfitting check)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5350"/>
              </p:ext>
            </p:extLst>
          </p:nvPr>
        </p:nvGraphicFramePr>
        <p:xfrm>
          <a:off x="6172200" y="1965960"/>
          <a:ext cx="5577840" cy="21336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Train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Logistic Regression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0.715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0.583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KNN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0.694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0.500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Decision Tree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1.000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0.472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Random Forest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1.000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0.611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AdaBoost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0.868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0.556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Gradient Boosting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1.000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0.528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CatBoost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1.000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E3B"/>
                          </a:solidFill>
                        </a:rPr>
                        <a:t>0.500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440680"/>
            <a:ext cx="11247120" cy="822960"/>
          </a:xfrm>
          <a:prstGeom prst="roundRect">
            <a:avLst>
              <a:gd name="adj" fmla="val 7273"/>
            </a:avLst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5532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overfitting: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Random Forest, Gradient Boosting and CatBoost all reach perfect training accuracy (1.000) but drop sharply on the test set — a clear overfitting pattern on this small dataset. Logistic Regression and AdaBoost show a smaller train–test gap.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Feature Scaling — Does  Changes the Accuracy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5627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Because KNN is distance-based, three scalers were tested on it: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367788"/>
              </p:ext>
            </p:extLst>
          </p:nvPr>
        </p:nvGraphicFramePr>
        <p:xfrm>
          <a:off x="484631" y="1779852"/>
          <a:ext cx="10264430" cy="1097280"/>
        </p:xfrm>
        <a:graphic>
          <a:graphicData uri="http://schemas.openxmlformats.org/drawingml/2006/table">
            <a:tbl>
              <a:tblPr/>
              <a:tblGrid>
                <a:gridCol w="2354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6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6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67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Scaler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Mean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StandardScaler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0.500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0.534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E3B"/>
                          </a:solidFill>
                        </a:rPr>
                        <a:t>MinMaxScaler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E3B"/>
                          </a:solidFill>
                        </a:rPr>
                        <a:t>0.639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E3B"/>
                          </a:solidFill>
                        </a:rPr>
                        <a:t>0.714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E3B"/>
                          </a:solidFill>
                        </a:rPr>
                        <a:t>0.606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E3B"/>
                          </a:solidFill>
                        </a:rPr>
                        <a:t>0.577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RobustScaler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0.541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047131"/>
            <a:ext cx="11247120" cy="1479176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</p:spPr>
      </p:sp>
      <p:sp>
        <p:nvSpPr>
          <p:cNvPr id="8" name="Text 5"/>
          <p:cNvSpPr/>
          <p:nvPr/>
        </p:nvSpPr>
        <p:spPr>
          <a:xfrm>
            <a:off x="668767" y="5196393"/>
            <a:ext cx="10698480" cy="1180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gave KNN the best accuracy (0.639), precision (0.714) and F1-score (0.606) of the three scalers tested.</a:t>
            </a:r>
            <a:endParaRPr lang="en-US" sz="1250" dirty="0"/>
          </a:p>
          <a:p>
            <a:pPr marL="228600" indent="-228600" algn="l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gave the most stable cross-validation scores (lowest std = 0.061), useful when outliers are a concern.</a:t>
            </a:r>
            <a:endParaRPr lang="en-US" sz="1250" dirty="0"/>
          </a:p>
          <a:p>
            <a:pPr marL="228600" indent="-228600" algn="l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performed the weakest for this distance-based model on this dataset.</a:t>
            </a:r>
            <a:endParaRPr lang="en-US" sz="1250" dirty="0"/>
          </a:p>
          <a:p>
            <a:pPr marL="228600" indent="-228600" algn="l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B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this comparison, KNN with MinMaxScaler was carried forward into the final model comparison.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C4F6D390-3099-F81E-243C-F721A46EE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962105"/>
              </p:ext>
            </p:extLst>
          </p:nvPr>
        </p:nvGraphicFramePr>
        <p:xfrm>
          <a:off x="457200" y="3516678"/>
          <a:ext cx="10291863" cy="822960"/>
        </p:xfrm>
        <a:graphic>
          <a:graphicData uri="http://schemas.openxmlformats.org/drawingml/2006/table">
            <a:tbl>
              <a:tblPr/>
              <a:tblGrid>
                <a:gridCol w="2360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0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07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07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Scaler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Mean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StandardScaler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0.583</a:t>
                      </a:r>
                      <a:endParaRPr lang="en-US" sz="1200" b="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E3B"/>
                          </a:solidFill>
                        </a:rPr>
                        <a:t>MinMaxScaler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0.611</a:t>
                      </a:r>
                      <a:endParaRPr lang="en-US" sz="120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</a:t>
                      </a:r>
                      <a:endParaRPr lang="en-US" sz="120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0.526</a:t>
                      </a:r>
                      <a:endParaRPr lang="en-US" sz="120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E3B"/>
                          </a:solidFill>
                        </a:rPr>
                        <a:t>0.606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57863D1-FCAE-A33A-8E1A-E8E60BB07EBE}"/>
              </a:ext>
            </a:extLst>
          </p:cNvPr>
          <p:cNvSpPr txBox="1"/>
          <p:nvPr/>
        </p:nvSpPr>
        <p:spPr>
          <a:xfrm>
            <a:off x="457200" y="30727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41A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</a:t>
            </a:r>
            <a:r>
              <a:rPr lang="en-US" sz="1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 ( </a:t>
            </a:r>
            <a:r>
              <a:rPr lang="en-US" b="1" dirty="0" err="1">
                <a:solidFill>
                  <a:srgbClr val="2B2E3B"/>
                </a:solidFill>
              </a:rPr>
              <a:t>StandardScaler</a:t>
            </a:r>
            <a:r>
              <a:rPr lang="en-US" dirty="0">
                <a:solidFill>
                  <a:srgbClr val="2B2E3B"/>
                </a:solidFill>
              </a:rPr>
              <a:t> vs  </a:t>
            </a:r>
            <a:r>
              <a:rPr lang="en-US" b="1" dirty="0" err="1">
                <a:solidFill>
                  <a:srgbClr val="2B2E3B"/>
                </a:solidFill>
              </a:rPr>
              <a:t>MinMaxScaler</a:t>
            </a:r>
            <a:r>
              <a:rPr lang="en-US" b="1" dirty="0">
                <a:solidFill>
                  <a:srgbClr val="2B2E3B"/>
                </a:solidFill>
              </a:rPr>
              <a:t>):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Final Model Comparison Table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324754"/>
              </p:ext>
            </p:extLst>
          </p:nvPr>
        </p:nvGraphicFramePr>
        <p:xfrm>
          <a:off x="457200" y="1691640"/>
          <a:ext cx="11247120" cy="22555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CV Score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KNN (</a:t>
                      </a:r>
                      <a:r>
                        <a:rPr lang="en-US" sz="1250" b="1" dirty="0" err="1">
                          <a:solidFill>
                            <a:srgbClr val="2B2E3B"/>
                          </a:solidFill>
                        </a:rPr>
                        <a:t>MinMaxScaler</a:t>
                      </a: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0.639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0.714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0.606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0.577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Logistic Regression(</a:t>
                      </a:r>
                      <a:r>
                        <a:rPr lang="en-US" sz="1250" b="1" dirty="0" err="1">
                          <a:solidFill>
                            <a:srgbClr val="2B2E3B"/>
                          </a:solidFill>
                        </a:rPr>
                        <a:t>MinMaxScaler</a:t>
                      </a: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)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0.611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0.666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</a:t>
                      </a:r>
                      <a:r>
                        <a:rPr lang="en-US" sz="1200" b="1" dirty="0">
                          <a:solidFill>
                            <a:srgbClr val="2B2E3B"/>
                          </a:solidFill>
                        </a:rPr>
                        <a:t>.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588</a:t>
                      </a:r>
                      <a:endParaRPr lang="en-US" sz="120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0.590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Random Forest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0.611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0.667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0.526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0.588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E3B"/>
                          </a:solidFill>
                        </a:rPr>
                        <a:t>0.576</a:t>
                      </a:r>
                      <a:endParaRPr lang="en-US" sz="1250" b="1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AdaBoost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0.556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0.600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0.474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0.529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0.611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Gradient Boosting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0.528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0.563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0.474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0.514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0.465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CatBoost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0.500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0.529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0.474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0.500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0.555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Decision Tree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0.472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0.500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0.368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0.424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E3B"/>
                          </a:solidFill>
                        </a:rPr>
                        <a:t>0.535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994235"/>
            <a:ext cx="11247120" cy="1417320"/>
          </a:xfrm>
          <a:prstGeom prst="roundRect">
            <a:avLst>
              <a:gd name="adj" fmla="val 5161"/>
            </a:avLst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1663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with MinMaxScaler achieved the highest test Accuracy, Precision and F1-score of all models compared.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and Logistic Regression had marginally higher cross-validation scores, suggesting more consistent performance across folds — a trade-off worth noting alongside raw test-set accuracy.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Confusion Matrix — Selected Model (KNN, MinMaxScaler)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imgs/cell12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24" y="1645920"/>
            <a:ext cx="528917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1737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Test-set outcome (36 customers)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943600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98464" y="2267712"/>
            <a:ext cx="254203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998464" y="282321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(correctly kept)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778240" y="219456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33104" y="2267712"/>
            <a:ext cx="281635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15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833104" y="282321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(wrongly flagged)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0" y="35204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98464" y="3593592"/>
            <a:ext cx="254203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15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998464" y="414909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(missed churner)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778240" y="352044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33104" y="3593592"/>
            <a:ext cx="281635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833104" y="414909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(caught churner)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43600" y="489204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498348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Reading the errors: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actual churners were missed (false negatives) — the costlier error for a retention program — while 4 loyal customers were incorrectly flagged (false positives).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67F8D-CC10-2B34-C38F-B841E656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2F296C-51DF-49D1-B94F-47AE455BE27E}"/>
              </a:ext>
            </a:extLst>
          </p:cNvPr>
          <p:cNvSpPr/>
          <p:nvPr/>
        </p:nvSpPr>
        <p:spPr>
          <a:xfrm>
            <a:off x="457200" y="36576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D6B93F-243D-25FB-1B43-CBC8A0C6EEED}"/>
              </a:ext>
            </a:extLst>
          </p:cNvPr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DDDA48-6B06-CE36-9144-7834E5D91F5A}"/>
              </a:ext>
            </a:extLst>
          </p:cNvPr>
          <p:cNvSpPr/>
          <p:nvPr/>
        </p:nvSpPr>
        <p:spPr>
          <a:xfrm>
            <a:off x="457200" y="749808"/>
            <a:ext cx="1141207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Confusion Matrix — Selected Model </a:t>
            </a: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141A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</a:t>
            </a: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</a:t>
            </a: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, MinMaxScaler)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5024614-2B62-6239-F71A-ADD5A41C4C2D}"/>
              </a:ext>
            </a:extLst>
          </p:cNvPr>
          <p:cNvSpPr/>
          <p:nvPr/>
        </p:nvSpPr>
        <p:spPr>
          <a:xfrm>
            <a:off x="5943600" y="1737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Test-set outcome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2E7C329-18EB-1DDE-B433-DCB6730B78E3}"/>
              </a:ext>
            </a:extLst>
          </p:cNvPr>
          <p:cNvSpPr/>
          <p:nvPr/>
        </p:nvSpPr>
        <p:spPr>
          <a:xfrm>
            <a:off x="5943600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E40EA41-7A49-4C7F-B1A3-B7EAF4592D00}"/>
              </a:ext>
            </a:extLst>
          </p:cNvPr>
          <p:cNvSpPr/>
          <p:nvPr/>
        </p:nvSpPr>
        <p:spPr>
          <a:xfrm>
            <a:off x="5998464" y="2267712"/>
            <a:ext cx="254203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7FF8809-9AF9-66F7-90B2-0B4C9900C91C}"/>
              </a:ext>
            </a:extLst>
          </p:cNvPr>
          <p:cNvSpPr/>
          <p:nvPr/>
        </p:nvSpPr>
        <p:spPr>
          <a:xfrm>
            <a:off x="5998464" y="282321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(correctly kept)</a:t>
            </a:r>
            <a:endParaRPr lang="en-US" sz="10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DFB9ABF-31BB-32BE-41CC-01F9C53DC15A}"/>
              </a:ext>
            </a:extLst>
          </p:cNvPr>
          <p:cNvSpPr/>
          <p:nvPr/>
        </p:nvSpPr>
        <p:spPr>
          <a:xfrm>
            <a:off x="8778240" y="219456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1FE0BDD-85B3-2D71-B14D-71F94C6E1A4E}"/>
              </a:ext>
            </a:extLst>
          </p:cNvPr>
          <p:cNvSpPr/>
          <p:nvPr/>
        </p:nvSpPr>
        <p:spPr>
          <a:xfrm>
            <a:off x="8833104" y="2267712"/>
            <a:ext cx="281635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15554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2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1BB90E4-AF5F-1153-64B6-E2FD3ADBD607}"/>
              </a:ext>
            </a:extLst>
          </p:cNvPr>
          <p:cNvSpPr/>
          <p:nvPr/>
        </p:nvSpPr>
        <p:spPr>
          <a:xfrm>
            <a:off x="8833104" y="282321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(wrongly flagged)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207D8BD-568A-DBA7-8784-140D93F2D1E1}"/>
              </a:ext>
            </a:extLst>
          </p:cNvPr>
          <p:cNvSpPr/>
          <p:nvPr/>
        </p:nvSpPr>
        <p:spPr>
          <a:xfrm>
            <a:off x="5943600" y="35204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6125F63-8E1C-C1E3-744A-496A162A3CB7}"/>
              </a:ext>
            </a:extLst>
          </p:cNvPr>
          <p:cNvSpPr/>
          <p:nvPr/>
        </p:nvSpPr>
        <p:spPr>
          <a:xfrm>
            <a:off x="5998464" y="3593592"/>
            <a:ext cx="254203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15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D7184F6-6DAD-F9DF-9A12-264273A4020E}"/>
              </a:ext>
            </a:extLst>
          </p:cNvPr>
          <p:cNvSpPr/>
          <p:nvPr/>
        </p:nvSpPr>
        <p:spPr>
          <a:xfrm>
            <a:off x="5998464" y="414909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(missed churner)</a:t>
            </a:r>
            <a:endParaRPr lang="en-US" sz="105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0D5F6D9-5B0D-2502-AC89-0C2D45E25771}"/>
              </a:ext>
            </a:extLst>
          </p:cNvPr>
          <p:cNvSpPr/>
          <p:nvPr/>
        </p:nvSpPr>
        <p:spPr>
          <a:xfrm>
            <a:off x="8778240" y="352044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F2BA25B-D261-B33F-BD84-5035BE61A503}"/>
              </a:ext>
            </a:extLst>
          </p:cNvPr>
          <p:cNvSpPr/>
          <p:nvPr/>
        </p:nvSpPr>
        <p:spPr>
          <a:xfrm>
            <a:off x="8833104" y="3593592"/>
            <a:ext cx="2816352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70C757D-A4A5-6399-CD87-47E39E8D630F}"/>
              </a:ext>
            </a:extLst>
          </p:cNvPr>
          <p:cNvSpPr/>
          <p:nvPr/>
        </p:nvSpPr>
        <p:spPr>
          <a:xfrm>
            <a:off x="8833104" y="414909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(caught churner)</a:t>
            </a:r>
            <a:endParaRPr lang="en-US" sz="105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A51C95D-E33C-1C3A-4FBA-C2B0647DFEBE}"/>
              </a:ext>
            </a:extLst>
          </p:cNvPr>
          <p:cNvSpPr/>
          <p:nvPr/>
        </p:nvSpPr>
        <p:spPr>
          <a:xfrm>
            <a:off x="5943600" y="4892040"/>
            <a:ext cx="576072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4641108-F498-6FEF-8593-D0BB9F85ECD7}"/>
              </a:ext>
            </a:extLst>
          </p:cNvPr>
          <p:cNvSpPr/>
          <p:nvPr/>
        </p:nvSpPr>
        <p:spPr>
          <a:xfrm>
            <a:off x="6172200" y="498348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Reading the errors: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actual churners were missed (false negatives) — the costlier error for a retention program — while 5 loyal customers were incorrectly flagged (false positives).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AC01991-C17F-2668-8365-8161959BACE1}"/>
              </a:ext>
            </a:extLst>
          </p:cNvPr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460C00F-FDCA-3570-8ABC-DC824DCED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66" y="1710309"/>
            <a:ext cx="52768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73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39696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Which Features Matter Most?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imgs/cell1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38" y="1481328"/>
            <a:ext cx="5760720" cy="3566160"/>
          </a:xfrm>
          <a:prstGeom prst="rect">
            <a:avLst/>
          </a:prstGeom>
        </p:spPr>
      </p:pic>
      <p:pic>
        <p:nvPicPr>
          <p:cNvPr id="6" name="Image 1" descr="/home/claude/imgs/cell133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481328"/>
            <a:ext cx="5760720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5303520"/>
            <a:ext cx="11612880" cy="1234440"/>
          </a:xfrm>
          <a:prstGeom prst="roundRect">
            <a:avLst>
              <a:gd name="adj" fmla="val 5926"/>
            </a:avLst>
          </a:prstGeom>
          <a:solidFill>
            <a:schemeClr val="tx1">
              <a:lumMod val="95000"/>
              <a:lumOff val="5000"/>
            </a:schemeClr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539496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(built-in importance) ranks numeric usage/billing features highest: Data_Usage_GB, Tenure_Months, Monthly_Charges, Annual_Income.</a:t>
            </a:r>
            <a:endParaRPr lang="en-US" sz="1400" dirty="0"/>
          </a:p>
          <a:p>
            <a:pPr marL="228600" indent="-228600" algn="l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model, KNN (MinMaxScaler), ranks Contract_Type and Plan_Type as by far the most influential features (permutation importance) — consistent with the contract-type churn pattern seen in the EDA.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80944" cy="292608"/>
          </a:xfrm>
          <a:prstGeom prst="roundRect">
            <a:avLst>
              <a:gd name="adj" fmla="val 18750"/>
            </a:avLst>
          </a:prstGeom>
          <a:solidFill>
            <a:srgbClr val="EEF3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Findings &amp; Recommendations for the Retention Team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1555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522476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Monthly-contract customers first  —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They churn at 62.5% vs 20.8% for 2-year contracts — the single clearest segment associated with higher churn.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1555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520517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Watch satisfaction scores closely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 Churned customers show a visibly lower median satisfaction score — treat low scores as an early warning sign for outreach.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55701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1555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485209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Prioritize by Contract_Type and Plan_Type  —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These were the two most influential features for the selected model — retention offers should be aimed at Monthly-contract, Basic-plan customers.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5354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1555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535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48056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Don't over-rely on tenure or monthly charges alone  —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show heavy overlap between churned and retained customers in this dataset, so they are weak standalone signals.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55138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1555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513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5442025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 false negatives vs false positives  —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selected model missed 9 of 19 churners (false negatives) and misflagged 4 loyal customers (false positives) — balance outreach cost against the cost of losing a customer.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1031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b="1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&amp; Limitations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789920" cy="2908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KNN with MinMaxScaler — best test Accuracy (0.639), Precision (0.714) and F1-score (0.606) among all 7 models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compared.</a:t>
            </a:r>
            <a:endParaRPr lang="en-US" sz="1400" dirty="0"/>
          </a:p>
          <a:p>
            <a:pPr marL="228600" indent="-228600" algn="l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was lower (0.577) than Logistic Regression (0.590) and AdaBoost (0.611), showing model choice involves a trade-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off between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single-split test performance and fold-to-fold stability.</a:t>
            </a:r>
          </a:p>
          <a:p>
            <a:pPr marL="228600" indent="-228600">
              <a:spcAft>
                <a:spcPts val="1400"/>
              </a:spcAft>
              <a:buSzPct val="100000"/>
              <a:buFontTx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logistic regression(minmax) -- Good accuracy (0.611), Precision (0.666) and F1-score (0.606) </a:t>
            </a:r>
            <a:endParaRPr lang="en-US" sz="1400" dirty="0"/>
          </a:p>
          <a:p>
            <a:pPr marL="228600" indent="-228600" algn="l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Random Forest, Gradient Boosting and CatBoost all overfit — perfect training accuracy but a large drop on test data — on this small dataset.</a:t>
            </a:r>
            <a:endParaRPr lang="en-US" sz="1400" dirty="0"/>
          </a:p>
          <a:p>
            <a:pPr marL="228600" indent="-228600" algn="l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showed only weak correlations with each other (|r| ≤ 0.13); Contract_Type and Plan_Type were the strongest predictors for the selected model.</a:t>
            </a:r>
            <a:endParaRPr lang="en-US" sz="1400" dirty="0"/>
          </a:p>
          <a:p>
            <a:pPr marL="228600" indent="-228600" algn="l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only 180 customer records after cleaning — a small sample that limits how confidently these results generalize. More data, and richer behavioral features, would likely improve reliability.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B97EA-6146-D2C4-02BB-66335253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791441-9525-4B71-D623-39BB886BB7C7}"/>
              </a:ext>
            </a:extLst>
          </p:cNvPr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1B4F27-6ABB-6837-82E2-47706E11388D}"/>
              </a:ext>
            </a:extLst>
          </p:cNvPr>
          <p:cNvSpPr/>
          <p:nvPr/>
        </p:nvSpPr>
        <p:spPr>
          <a:xfrm>
            <a:off x="6225771" y="4516582"/>
            <a:ext cx="6933738" cy="1173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400" dirty="0">
                <a:solidFill>
                  <a:schemeClr val="bg1"/>
                </a:solidFill>
                <a:latin typeface="Javanese Text" panose="02000000000000000000" pitchFamily="2" charset="0"/>
              </a:rPr>
              <a:t>THANKYOU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7ECAB392-CE9C-61C9-0F30-1E734453DBB5}"/>
              </a:ext>
            </a:extLst>
          </p:cNvPr>
          <p:cNvSpPr/>
          <p:nvPr/>
        </p:nvSpPr>
        <p:spPr>
          <a:xfrm>
            <a:off x="-1999673" y="4425141"/>
            <a:ext cx="4572000" cy="4572000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51D30D-27C8-E6C2-D561-32D94649E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98" y="1168400"/>
            <a:ext cx="6462320" cy="14509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1833F-66B9-A256-302A-CB5A308F4EC2}"/>
              </a:ext>
            </a:extLst>
          </p:cNvPr>
          <p:cNvSpPr txBox="1"/>
          <p:nvPr/>
        </p:nvSpPr>
        <p:spPr>
          <a:xfrm>
            <a:off x="9820563" y="5966752"/>
            <a:ext cx="246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Javanese Text" panose="02000000000000000000" pitchFamily="2" charset="0"/>
              </a:rPr>
              <a:t>-G.VIGNESHBABU</a:t>
            </a:r>
          </a:p>
        </p:txBody>
      </p:sp>
    </p:spTree>
    <p:extLst>
      <p:ext uri="{BB962C8B-B14F-4D97-AF65-F5344CB8AC3E}">
        <p14:creationId xmlns:p14="http://schemas.microsoft.com/office/powerpoint/2010/main" val="1782138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2475</Words>
  <Application>Microsoft Office PowerPoint</Application>
  <PresentationFormat>Widescreen</PresentationFormat>
  <Paragraphs>481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Bahnschrift SemiBold SemiConden</vt:lpstr>
      <vt:lpstr>Calibri</vt:lpstr>
      <vt:lpstr>Cambria</vt:lpstr>
      <vt:lpstr>Javanese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Vignesh Guthi</cp:lastModifiedBy>
  <cp:revision>6</cp:revision>
  <dcterms:created xsi:type="dcterms:W3CDTF">2026-09-26T06:47:07Z</dcterms:created>
  <dcterms:modified xsi:type="dcterms:W3CDTF">2026-09-26T14:53:00Z</dcterms:modified>
</cp:coreProperties>
</file>